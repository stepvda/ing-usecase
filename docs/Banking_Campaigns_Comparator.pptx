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62" r:id="rId4"/>
    <p:sldId id="258" r:id="rId5"/>
    <p:sldId id="259" r:id="rId6"/>
    <p:sldId id="260" r:id="rId7"/>
    <p:sldId id="261" r:id="rId8"/>
    <p:sldId id="263" r:id="rId9"/>
    <p:sldId id="264" r:id="rId10"/>
    <p:sldId id="265" r:id="rId11"/>
    <p:sldId id="266" r:id="rId12"/>
    <p:sldId id="267" r:id="rId13"/>
    <p:sldId id="268" r:id="rId14"/>
    <p:sldId id="270" r:id="rId15"/>
    <p:sldId id="271" r:id="rId16"/>
    <p:sldId id="298" r:id="rId17"/>
    <p:sldId id="273" r:id="rId18"/>
    <p:sldId id="274" r:id="rId19"/>
    <p:sldId id="275" r:id="rId20"/>
    <p:sldId id="276" r:id="rId21"/>
    <p:sldId id="269"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0514" autoAdjust="0"/>
  </p:normalViewPr>
  <p:slideViewPr>
    <p:cSldViewPr snapToGrid="0" snapToObjects="1">
      <p:cViewPr varScale="1">
        <p:scale>
          <a:sx n="162" d="100"/>
          <a:sy n="162" d="100"/>
        </p:scale>
        <p:origin x="127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25/09/26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part of the ING DACI two-week P of 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before we start: we have no internal data, nothing here claims a design choice caused a commercial outcome — every recommendation is an argued hypothesis worth testing.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frame this.</a:t>
            </a:r>
          </a:p>
          <a:p>
            <a:endParaRPr lang="en-US" dirty="0"/>
          </a:p>
          <a:p>
            <a:r>
              <a:rPr lang="en-US" dirty="0"/>
              <a:t>ING is a hybrid. You carry the direct, feature-first, mobile-first tone of a neobank, and the institutional weight of a Tier-1 bank. That is a position, not an accident.</a:t>
            </a:r>
          </a:p>
          <a:p>
            <a:endParaRPr lang="en-US" dirty="0"/>
          </a:p>
          <a:p>
            <a:r>
              <a:rPr lang="en-US" dirty="0"/>
              <a:t>The playing field is level on regulation. Neobanks' speed is architecture and no branches — not lighter European or compliance rules.</a:t>
            </a:r>
          </a:p>
          <a:p>
            <a:endParaRPr lang="en-US" dirty="0"/>
          </a:p>
          <a:p>
            <a:r>
              <a:rPr lang="en-US" dirty="0"/>
              <a:t>Where you differ is the engine. Traditional banks use the current account as a loss leader and </a:t>
            </a:r>
            <a:r>
              <a:rPr lang="en-US" dirty="0" err="1"/>
              <a:t>monetise</a:t>
            </a:r>
            <a:r>
              <a:rPr lang="en-US" dirty="0"/>
              <a:t> later: mortgages, insurance, wealth. Neobanks </a:t>
            </a:r>
            <a:r>
              <a:rPr lang="en-US" dirty="0" err="1"/>
              <a:t>monetise</a:t>
            </a:r>
            <a:r>
              <a:rPr lang="en-US" dirty="0"/>
              <a:t> upfront — freemium tiers, subscriptions, abonnements, FX. They chase volume among young adults and digital nomads. You chase lifetime value: expats, first-time investors, first-time buyers."</a:t>
            </a:r>
          </a:p>
        </p:txBody>
      </p:sp>
    </p:spTree>
    <p:extLst>
      <p:ext uri="{BB962C8B-B14F-4D97-AF65-F5344CB8AC3E}">
        <p14:creationId xmlns:p14="http://schemas.microsoft.com/office/powerpoint/2010/main" val="559537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the question is whether that hybrid position shows up in how you actually communicate.</a:t>
            </a:r>
          </a:p>
          <a:p>
            <a:r>
              <a:rPr lang="en-US" dirty="0"/>
              <a:t>51 pages, 14 banks, 6 product families, 104 documented features. We only ever compare within one product family — pages do different jobs. The headline runs on 18 current-account pages, 14 banks.</a:t>
            </a:r>
          </a:p>
          <a:p>
            <a:r>
              <a:rPr lang="en-US" dirty="0"/>
              <a:t>Deciding what was relevant was part of the work."</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withdrawn on 23/09 — the captured HTML holds every pack card, but no counting rule reproduced a human count across the fourteen banks, so the figure would have reported markup convention rather than the page.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NUMBERS, all from the current-account comparison — 14 banks, 33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(5.0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"104 features in, 33 out. Every reduction is on screen.</a:t>
            </a:r>
          </a:p>
          <a:p>
            <a:r>
              <a:t>And five withdrawn outright, because they measured our tooling, not your pages.</a:t>
            </a:r>
          </a:p>
          <a:p>
            <a:r>
              <a:t>Calls to action: no counting rule held across fourteen banks. Navigation, repeated links, clickable cards — each bank marks them up differently.</a:t>
            </a:r>
          </a:p>
          <a:p>
            <a:r>
              <a:t>Animation: our rule asked whether the stylesheet declared an animation, not whether the page moves. Across eighteen pages, exactly one has real motion — Revolut, a video. Your kickoff deck said ING was the only traditional bank animating. That is now marked not testable, not disproved. We will not rule on it with a broken instrument.</a:t>
            </a:r>
          </a:p>
          <a:p>
            <a:r>
              <a:t>The fifth we found while rehearsing this: a feature that tested whether a page uses an HTML table element. Traditional banks do. N26 and Revolut build the same plan comparison in CSS. It was reporting a markup convention as a strategic difference.</a:t>
            </a:r>
          </a:p>
          <a:p>
            <a:r>
              <a:t>OPTIONNEL, ~15 s, coupe si tu debordes : "That is why four of the five observations in your kickoff deck now read not testable rather than not supported. Three were being judged on a word-count band that reads 'long' for all fourteen banks — a measure that separates nobody cannot refute anyone. One claim is genuinely not supported: text is still beside the picture."</a:t>
            </a:r>
          </a:p>
          <a:p>
            <a:endParaRPr/>
          </a:p>
          <a:p>
            <a:r>
              <a:t>And one whole axis of our AI Score returns nothing.</a:t>
            </a:r>
          </a:p>
          <a:p>
            <a:r>
              <a:t>We would rather hand you 33 numbers we can defend."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810543"/>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lang="fr-FR" sz="1300" b="0" dirty="0">
                <a:solidFill>
                  <a:srgbClr val="A8A8B8"/>
                </a:solidFill>
                <a:latin typeface="Helvetica Neue"/>
              </a:rPr>
              <a:t>Camus </a:t>
            </a:r>
            <a:r>
              <a:rPr sz="1300" b="0" dirty="0">
                <a:solidFill>
                  <a:srgbClr val="A8A8B8"/>
                </a:solidFill>
                <a:latin typeface="Helvetica Neue"/>
              </a:rPr>
              <a:t>Siegried (marketing framework) · </a:t>
            </a:r>
            <a:r>
              <a:rPr lang="fr-FR" sz="1300" b="0" dirty="0" err="1">
                <a:solidFill>
                  <a:srgbClr val="A8A8B8"/>
                </a:solidFill>
                <a:latin typeface="Helvetica Neue"/>
              </a:rPr>
              <a:t>Ukendi</a:t>
            </a:r>
            <a:r>
              <a:rPr lang="fr-FR" sz="1300" b="0" dirty="0">
                <a:solidFill>
                  <a:srgbClr val="A8A8B8"/>
                </a:solidFill>
                <a:latin typeface="Helvetica Neue"/>
              </a:rPr>
              <a:t> </a:t>
            </a:r>
            <a:r>
              <a:rPr sz="1300" b="0" dirty="0">
                <a:solidFill>
                  <a:srgbClr val="A8A8B8"/>
                </a:solidFill>
                <a:latin typeface="Helvetica Neue"/>
              </a:rPr>
              <a:t>Dan (collection, extraction) · </a:t>
            </a:r>
            <a:r>
              <a:rPr lang="fr-FR" sz="1300" dirty="0">
                <a:solidFill>
                  <a:srgbClr val="A8A8B8"/>
                </a:solidFill>
                <a:latin typeface="Helvetica Neue"/>
              </a:rPr>
              <a:t>v</a:t>
            </a:r>
            <a:r>
              <a:rPr lang="fr-FR" sz="1300" b="0">
                <a:solidFill>
                  <a:srgbClr val="A8A8B8"/>
                </a:solidFill>
                <a:latin typeface="Helvetica Neue"/>
              </a:rPr>
              <a:t>an </a:t>
            </a:r>
            <a:r>
              <a:rPr lang="fr-FR" sz="1300" b="0" dirty="0">
                <a:solidFill>
                  <a:srgbClr val="A8A8B8"/>
                </a:solidFill>
                <a:latin typeface="Helvetica Neue"/>
              </a:rPr>
              <a:t>der Aa </a:t>
            </a:r>
            <a:r>
              <a:rPr sz="1300" b="0" dirty="0">
                <a:solidFill>
                  <a:srgbClr val="A8A8B8"/>
                </a:solidFill>
                <a:latin typeface="Helvetica Neue"/>
              </a:rPr>
              <a:t>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51 collected · 104 features</a:t>
            </a:r>
            <a:endParaRPr lang="fr-FR" sz="1300" b="0" dirty="0">
              <a:solidFill>
                <a:srgbClr val="A8A8B8"/>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3</a:t>
            </a:r>
            <a:endParaRPr sz="1000" b="0" dirty="0">
              <a:solidFill>
                <a:srgbClr val="585868"/>
              </a:solidFill>
              <a:latin typeface="Helvetica Neue"/>
            </a:endParaRPr>
          </a:p>
        </p:txBody>
      </p:sp>
    </p:spTree>
    <p:extLst>
      <p:ext uri="{BB962C8B-B14F-4D97-AF65-F5344CB8AC3E}">
        <p14:creationId xmlns:p14="http://schemas.microsoft.com/office/powerpoint/2010/main" val="3710705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4</a:t>
            </a:r>
            <a:endParaRPr sz="1000" b="0" dirty="0">
              <a:solidFill>
                <a:srgbClr val="585868"/>
              </a:solidFill>
              <a:latin typeface="Helvetica Neu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5</a:t>
            </a:r>
            <a:endParaRPr sz="1000" b="0" dirty="0">
              <a:solidFill>
                <a:srgbClr val="585868"/>
              </a:solidFill>
              <a:latin typeface="Helvetica Neu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scored across 6 product families. This comparison: the 18 current-account pages, 14 banks, 33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720"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was scored from text, and that was a choice we can now revisit</a:t>
            </a:r>
          </a:p>
          <a:p>
            <a:pPr algn="l">
              <a:lnSpc>
                <a:spcPct val="105000"/>
              </a:lnSpc>
              <a:spcAft>
                <a:spcPts val="1000"/>
              </a:spcAft>
            </a:pPr>
            <a:r>
              <a:rPr sz="1300" b="0">
                <a:solidFill>
                  <a:srgbClr val="585868"/>
                </a:solidFill>
                <a:latin typeface="Helvetica Neue"/>
              </a:rPr>
              <a:t>     formality_score is the one the dictionary sources from html_text, and there the model lands within one point of the human 73% of the time. Its scores on the twelve visual features answer a question the text alone cannot settle — on value_prop_clarity it ranked the pages close to the opposite of the human. Tested since: the pinned model returns nothing at all when handed an image. OCR is the route we have not used, and it is a real one — it returns each word with its position and type size, which is most of what rate prominence, layout and mobile-first actually ask.</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7</a:t>
            </a:r>
            <a:endParaRPr sz="1000" b="0" dirty="0">
              <a:solidFill>
                <a:srgbClr val="585868"/>
              </a:solidFill>
              <a:latin typeface="Helvetica Neue"/>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0.41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5.0 vs 1.7 (+3.68 SD, rubric) · The offer feels worth having: 5.0 vs 4.0 (+1.36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Image alt text: no ING page carries it, against 23% of peers (-0.55 SD). Animation and calls to action were withdrawn — neither rule measured what its name claims, so neither is ranked here.</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528954" y="2415501"/>
            <a:ext cx="177800" cy="177800"/>
          </a:xfrm>
          <a:prstGeom prst="ellipse">
            <a:avLst/>
          </a:prstGeom>
          <a:solidFill>
            <a:srgbClr val="FF6200"/>
          </a:solidFill>
          <a:ln>
            <a:noFill/>
          </a:ln>
        </p:spPr>
        <p:txBody>
          <a:bodyPr/>
          <a:lstStyle/>
          <a:p>
            <a:endParaRPr/>
          </a:p>
        </p:txBody>
      </p:sp>
      <p:sp>
        <p:nvSpPr>
          <p:cNvPr id="17" name="Oval"/>
          <p:cNvSpPr/>
          <p:nvPr/>
        </p:nvSpPr>
        <p:spPr>
          <a:xfrm>
            <a:off x="5201227"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+0.23 vs </a:t>
            </a:r>
            <a:r>
              <a:rPr sz="1200" b="0">
                <a:solidFill>
                  <a:srgbClr val="FF6200"/>
                </a:solidFill>
                <a:latin typeface="Helvetica Neue"/>
              </a:rPr>
              <a:t>+1.23</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ards.png"/>
          <p:cNvPicPr>
            <a:picLocks noChangeAspect="1"/>
          </p:cNvPicPr>
          <p:nvPr/>
        </p:nvPicPr>
        <p:blipFill>
          <a:blip r:embed="rId3"/>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4"/>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5"/>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txBody>
          <a:bodyPr/>
          <a:lstStyle/>
          <a:p>
            <a:endParaRPr/>
          </a:p>
        </p:txBody>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txBody>
          <a:bodyPr/>
          <a:lstStyle/>
          <a:p>
            <a:endParaRPr/>
          </a:p>
        </p:txBody>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txBody>
          <a:bodyPr/>
          <a:lstStyle/>
          <a:p>
            <a:endParaRPr/>
          </a:p>
        </p:txBody>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lang="en-US"/>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txBody>
          <a:bodyPr/>
          <a:lstStyle/>
          <a:p>
            <a:endParaRPr lang="en-US"/>
          </a:p>
        </p:txBody>
      </p:sp>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txBody>
          <a:bodyPr/>
          <a:lstStyle/>
          <a:p>
            <a:endParaRPr lang="en-US"/>
          </a:p>
        </p:txBody>
      </p:sp>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3"/>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4"/>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5"/>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pic>
        <p:nvPicPr>
          <p:cNvPr id="21" name="Picture 20">
            <a:extLst>
              <a:ext uri="{FF2B5EF4-FFF2-40B4-BE49-F238E27FC236}">
                <a16:creationId xmlns:a16="http://schemas.microsoft.com/office/drawing/2014/main" id="{2213E3A8-686B-ADF9-793A-FA97ACE97847}"/>
              </a:ext>
            </a:extLst>
          </p:cNvPr>
          <p:cNvPicPr>
            <a:picLocks noChangeAspect="1"/>
          </p:cNvPicPr>
          <p:nvPr/>
        </p:nvPicPr>
        <p:blipFill>
          <a:blip r:embed="rId6"/>
          <a:stretch>
            <a:fillRect/>
          </a:stretch>
        </p:blipFill>
        <p:spPr>
          <a:xfrm>
            <a:off x="652272" y="1126676"/>
            <a:ext cx="4808435" cy="2629008"/>
          </a:xfrm>
          <a:prstGeom prst="rect">
            <a:avLst/>
          </a:prstGeom>
        </p:spPr>
      </p:pic>
      <p:pic>
        <p:nvPicPr>
          <p:cNvPr id="22" name="Picture 21">
            <a:extLst>
              <a:ext uri="{FF2B5EF4-FFF2-40B4-BE49-F238E27FC236}">
                <a16:creationId xmlns:a16="http://schemas.microsoft.com/office/drawing/2014/main" id="{DFCDDED3-DA14-3BD9-5D9D-C450DEDB0153}"/>
              </a:ext>
            </a:extLst>
          </p:cNvPr>
          <p:cNvPicPr>
            <a:picLocks noChangeAspect="1"/>
          </p:cNvPicPr>
          <p:nvPr/>
        </p:nvPicPr>
        <p:blipFill>
          <a:blip r:embed="rId7"/>
          <a:stretch>
            <a:fillRect/>
          </a:stretch>
        </p:blipFill>
        <p:spPr>
          <a:xfrm>
            <a:off x="652272" y="3808476"/>
            <a:ext cx="4808435" cy="224076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pic>
        <p:nvPicPr>
          <p:cNvPr id="6" name="Image 0" descr="/Users/nstephane/Dev/AI_Data_Science_training/ing-usecase/docs/deck_assets/pipeline_complete.png"/>
          <p:cNvPicPr>
            <a:picLocks noChangeAspect="1"/>
          </p:cNvPicPr>
          <p:nvPr/>
        </p:nvPicPr>
        <p:blipFill>
          <a:blip r:embed="rId3"/>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21</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ontrols.png"/>
          <p:cNvPicPr>
            <a:picLocks noChangeAspect="1"/>
          </p:cNvPicPr>
          <p:nvPr/>
        </p:nvPicPr>
        <p:blipFill>
          <a:blip r:embed="rId3"/>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4"/>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33 measured features across 14 banks into 10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5"/>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2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10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txBody>
          <a:bodyPr/>
          <a:lstStyle/>
          <a:p>
            <a:endParaRPr/>
          </a:p>
        </p:txBody>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Repair the three captures taken behind a cookie banner</a:t>
            </a:r>
          </a:p>
          <a:p>
            <a:pPr algn="l">
              <a:lnSpc>
                <a:spcPct val="105000"/>
              </a:lnSpc>
              <a:spcAft>
                <a:spcPts val="1000"/>
              </a:spcAft>
            </a:pPr>
            <a:r>
              <a:rPr sz="1300" b="0">
                <a:solidFill>
                  <a:srgbClr val="585868"/>
                </a:solidFill>
                <a:latin typeface="Helvetica Neue"/>
              </a:rPr>
              <a:t>     Re-capture the three pages taken behind a cookie banner — Argenta, BNP Paribas Fortis and Crelan — so their colour and layout features describe the page rather than the modal.</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277</TotalTime>
  <Words>8002</Words>
  <Application>Microsoft Macintosh PowerPoint</Application>
  <PresentationFormat>Widescreen</PresentationFormat>
  <Paragraphs>517</Paragraphs>
  <Slides>42</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Stephane van der Aa</cp:lastModifiedBy>
  <cp:revision>9</cp:revision>
  <dcterms:created xsi:type="dcterms:W3CDTF">2013-01-27T09:14:16Z</dcterms:created>
  <dcterms:modified xsi:type="dcterms:W3CDTF">2026-09-25T07:17:38Z</dcterms:modified>
  <cp:category/>
</cp:coreProperties>
</file>
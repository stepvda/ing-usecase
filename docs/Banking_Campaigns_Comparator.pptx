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70" r:id="rId15"/>
    <p:sldId id="271" r:id="rId16"/>
    <p:sldId id="298" r:id="rId17"/>
    <p:sldId id="273" r:id="rId18"/>
    <p:sldId id="274" r:id="rId19"/>
    <p:sldId id="275" r:id="rId20"/>
    <p:sldId id="276" r:id="rId21"/>
    <p:sldId id="269"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514" autoAdjust="0"/>
  </p:normalViewPr>
  <p:slideViewPr>
    <p:cSldViewPr snapToGrid="0" snapToObjects="1">
      <p:cViewPr varScale="1">
        <p:scale>
          <a:sx n="162" d="100"/>
          <a:sy n="162" d="100"/>
        </p:scale>
        <p:origin x="127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25/09/26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33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(5.0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 features in, 33 out. Every reduction is on screen.</a:t>
            </a:r>
          </a:p>
          <a:p>
            <a:r>
              <a:t>And five withdrawn outright, because they measured our tooling, not your pages.</a:t>
            </a:r>
          </a:p>
          <a:p>
            <a:r>
              <a:t>Calls to action: no counting rule held across fourteen banks. Navigation, repeated links, clickable cards — each bank marks them up differently.</a:t>
            </a:r>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r>
              <a:t>The fifth we found while rehearsing this: a feature that tested whether a page uses an HTML table element. Traditional banks do. N26 and Revolut build the same plan comparison in CSS. It was reporting a markup convention as a strategic difference.</a:t>
            </a:r>
          </a:p>
          <a:p>
            <a:r>
              <a:t>OPTIONAL, about 15 s, cut it if you are running long: "That is why four of the five observations in your kickoff deck now read not testable rather than not supported. Three were being judged on a word-count band that reads 'long' for all fourteen banks — a measure that separates nobody cannot refute anyone. One claim is genuinely not supported: text is still beside the picture."</a:t>
            </a:r>
          </a:p>
          <a:p/>
          <a:p>
            <a:r>
              <a:t>And one whole axis of our AI Score returns nothing.</a:t>
            </a:r>
          </a:p>
          <a:p>
            <a:r>
              <a:t>We would rather hand you 33 numbers we can defend."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dirty="0">
                <a:solidFill>
                  <a:srgbClr val="A8A8B8"/>
                </a:solidFill>
                <a:latin typeface="Helvetica Neue"/>
              </a:rPr>
              <a:t>v</a:t>
            </a:r>
            <a:r>
              <a:rPr lang="fr-FR" sz="1300" b="0">
                <a:solidFill>
                  <a:srgbClr val="A8A8B8"/>
                </a:solidFill>
                <a:latin typeface="Helvetica Neue"/>
              </a:rPr>
              <a:t>an </a:t>
            </a:r>
            <a:r>
              <a:rPr lang="fr-FR" sz="1300" b="0" dirty="0">
                <a:solidFill>
                  <a:srgbClr val="A8A8B8"/>
                </a:solidFill>
                <a:latin typeface="Helvetica Neue"/>
              </a:rPr>
              <a:t>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51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lang="en-US"/>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lang="en-US"/>
          </a:p>
        </p:txBody>
      </p:sp>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lang="en-US"/>
          </a:p>
        </p:txBody>
      </p:sp>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3"/>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4"/>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5"/>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pic>
        <p:nvPicPr>
          <p:cNvPr id="21" name="Picture 20">
            <a:extLst>
              <a:ext uri="{FF2B5EF4-FFF2-40B4-BE49-F238E27FC236}">
                <a16:creationId xmlns:a16="http://schemas.microsoft.com/office/drawing/2014/main" id="{2213E3A8-686B-ADF9-793A-FA97ACE97847}"/>
              </a:ext>
            </a:extLst>
          </p:cNvPr>
          <p:cNvPicPr>
            <a:picLocks noChangeAspect="1"/>
          </p:cNvPicPr>
          <p:nvPr/>
        </p:nvPicPr>
        <p:blipFill>
          <a:blip r:embed="rId6"/>
          <a:stretch>
            <a:fillRect/>
          </a:stretch>
        </p:blipFill>
        <p:spPr>
          <a:xfrm>
            <a:off x="652272" y="1126676"/>
            <a:ext cx="4808435" cy="2629008"/>
          </a:xfrm>
          <a:prstGeom prst="rect">
            <a:avLst/>
          </a:prstGeom>
        </p:spPr>
      </p:pic>
      <p:pic>
        <p:nvPicPr>
          <p:cNvPr id="22" name="Picture 21">
            <a:extLst>
              <a:ext uri="{FF2B5EF4-FFF2-40B4-BE49-F238E27FC236}">
                <a16:creationId xmlns:a16="http://schemas.microsoft.com/office/drawing/2014/main" id="{DFCDDED3-DA14-3BD9-5D9D-C450DEDB0153}"/>
              </a:ext>
            </a:extLst>
          </p:cNvPr>
          <p:cNvPicPr>
            <a:picLocks noChangeAspect="1"/>
          </p:cNvPicPr>
          <p:nvPr/>
        </p:nvPicPr>
        <p:blipFill>
          <a:blip r:embed="rId7"/>
          <a:stretch>
            <a:fillRect/>
          </a:stretch>
        </p:blipFill>
        <p:spPr>
          <a:xfrm>
            <a:off x="652272" y="3808476"/>
            <a:ext cx="4808435" cy="224076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21</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277</TotalTime>
  <Words>8002</Words>
  <Application>Microsoft Macintosh PowerPoint</Application>
  <PresentationFormat>Widescreen</PresentationFormat>
  <Paragraphs>517</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Stephane van der Aa</cp:lastModifiedBy>
  <cp:revision>9</cp:revision>
  <dcterms:created xsi:type="dcterms:W3CDTF">2013-01-27T09:14:16Z</dcterms:created>
  <dcterms:modified xsi:type="dcterms:W3CDTF">2026-09-25T07:17:38Z</dcterms:modified>
  <cp:category/>
</cp:coreProperties>
</file>